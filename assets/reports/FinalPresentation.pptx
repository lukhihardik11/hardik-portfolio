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63" r:id="rId5"/>
    <p:sldId id="259" r:id="rId6"/>
    <p:sldId id="273" r:id="rId7"/>
    <p:sldId id="264" r:id="rId8"/>
    <p:sldId id="272" r:id="rId9"/>
    <p:sldId id="260" r:id="rId10"/>
    <p:sldId id="274" r:id="rId11"/>
    <p:sldId id="261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6" r:id="rId26"/>
    <p:sldId id="294" r:id="rId27"/>
    <p:sldId id="29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-528" y="-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39857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55026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3118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7559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68283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3982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73607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8224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0139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96008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00837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2968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301" y="3507494"/>
            <a:ext cx="7766936" cy="1096899"/>
          </a:xfrm>
        </p:spPr>
        <p:txBody>
          <a:bodyPr>
            <a:normAutofit/>
          </a:bodyPr>
          <a:lstStyle/>
          <a:p>
            <a:r>
              <a:rPr lang="en-IN" sz="2400" b="1" dirty="0" smtClean="0"/>
              <a:t>Industrial Defined Problem</a:t>
            </a:r>
            <a:endParaRPr lang="en-IN" sz="24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574131827"/>
              </p:ext>
            </p:extLst>
          </p:nvPr>
        </p:nvGraphicFramePr>
        <p:xfrm>
          <a:off x="1009168" y="1577009"/>
          <a:ext cx="8596140" cy="16824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96140"/>
              </a:tblGrid>
              <a:tr h="10522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3200" dirty="0">
                          <a:effectLst/>
                        </a:rPr>
                        <a:t>DESIGN AND FABRICATION OF PORTABLE HYDRAULIC “C” PRESS MACHINE FOR BUSH-FITTING</a:t>
                      </a:r>
                      <a:endParaRPr lang="en-IN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92025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375186980"/>
              </p:ext>
            </p:extLst>
          </p:nvPr>
        </p:nvGraphicFramePr>
        <p:xfrm>
          <a:off x="1709828" y="702659"/>
          <a:ext cx="8596312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/>
                <a:gridCol w="429815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b="1" dirty="0" smtClean="0"/>
                        <a:t>Student Name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 smtClean="0"/>
                        <a:t>Enrolment No.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0" dirty="0" smtClean="0"/>
                        <a:t>HARDIK</a:t>
                      </a:r>
                      <a:r>
                        <a:rPr lang="en-IN" b="0" baseline="0" dirty="0" smtClean="0"/>
                        <a:t> LUKHI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 smtClean="0"/>
                        <a:t>120050119040</a:t>
                      </a:r>
                      <a:endParaRPr lang="en-IN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0" baseline="0" dirty="0" smtClean="0"/>
                        <a:t>ASHISH BHOJANI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 smtClean="0"/>
                        <a:t>120050119016</a:t>
                      </a:r>
                      <a:endParaRPr lang="en-IN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0" dirty="0" smtClean="0"/>
                        <a:t>AKASH JASOLIYA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 smtClean="0"/>
                        <a:t>120050119026</a:t>
                      </a:r>
                      <a:endParaRPr lang="en-IN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0" dirty="0" smtClean="0"/>
                        <a:t>SAURABH BHUT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 smtClean="0"/>
                        <a:t>120050119519</a:t>
                      </a:r>
                      <a:endParaRPr lang="en-IN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54197687"/>
              </p:ext>
            </p:extLst>
          </p:nvPr>
        </p:nvGraphicFramePr>
        <p:xfrm>
          <a:off x="2174366" y="3318606"/>
          <a:ext cx="7734854" cy="216408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867427"/>
                <a:gridCol w="3867427"/>
              </a:tblGrid>
              <a:tr h="325194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Internal Guide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External Guide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</a:tr>
              <a:tr h="325194"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MILI J. HOTA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ANANTBHAI MORADIYA</a:t>
                      </a:r>
                      <a:endParaRPr lang="en-IN" b="0" dirty="0"/>
                    </a:p>
                  </a:txBody>
                  <a:tcPr/>
                </a:tc>
              </a:tr>
              <a:tr h="325194">
                <a:tc>
                  <a:txBody>
                    <a:bodyPr/>
                    <a:lstStyle/>
                    <a:p>
                      <a:r>
                        <a:rPr lang="en-IN" b="0" dirty="0" smtClean="0"/>
                        <a:t>Mechanical</a:t>
                      </a:r>
                      <a:r>
                        <a:rPr lang="en-IN" b="0" baseline="0" dirty="0" smtClean="0"/>
                        <a:t> department,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 smtClean="0"/>
                        <a:t>Director,</a:t>
                      </a:r>
                      <a:endParaRPr lang="en-IN" b="0" dirty="0"/>
                    </a:p>
                  </a:txBody>
                  <a:tcPr/>
                </a:tc>
              </a:tr>
              <a:tr h="325194">
                <a:tc>
                  <a:txBody>
                    <a:bodyPr/>
                    <a:lstStyle/>
                    <a:p>
                      <a:r>
                        <a:rPr lang="en-IN" b="0" dirty="0" smtClean="0"/>
                        <a:t>BITS </a:t>
                      </a:r>
                      <a:r>
                        <a:rPr lang="en-IN" b="0" dirty="0" err="1" smtClean="0"/>
                        <a:t>edu</a:t>
                      </a:r>
                      <a:r>
                        <a:rPr lang="en-IN" b="0" dirty="0" smtClean="0"/>
                        <a:t> Campus,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GOYANI MACHINES PVT. LTD.</a:t>
                      </a:r>
                      <a:endParaRPr lang="en-IN" b="0" dirty="0"/>
                    </a:p>
                  </a:txBody>
                  <a:tcPr/>
                </a:tc>
              </a:tr>
              <a:tr h="325194">
                <a:tc>
                  <a:txBody>
                    <a:bodyPr/>
                    <a:lstStyle/>
                    <a:p>
                      <a:r>
                        <a:rPr lang="en-IN" b="0" dirty="0" smtClean="0"/>
                        <a:t>Vadodara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 err="1" smtClean="0"/>
                        <a:t>Makarpura</a:t>
                      </a:r>
                      <a:r>
                        <a:rPr lang="en-IN" b="0" dirty="0" smtClean="0"/>
                        <a:t> GIDC, Vadodara</a:t>
                      </a:r>
                      <a:endParaRPr lang="en-IN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53444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7751" y="397566"/>
            <a:ext cx="8596668" cy="834887"/>
          </a:xfrm>
        </p:spPr>
        <p:txBody>
          <a:bodyPr/>
          <a:lstStyle/>
          <a:p>
            <a:pPr algn="ctr"/>
            <a:r>
              <a:rPr lang="en-IN" dirty="0" smtClean="0"/>
              <a:t>Description of Project </a:t>
            </a:r>
            <a:r>
              <a:rPr lang="en-IN" dirty="0"/>
              <a:t>P</a:t>
            </a:r>
            <a:r>
              <a:rPr lang="en-IN" dirty="0" smtClean="0"/>
              <a:t>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7751" y="1537251"/>
            <a:ext cx="8596668" cy="425231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 smtClean="0"/>
              <a:t>As per GTU Industrial training, we have done our training in </a:t>
            </a:r>
            <a:r>
              <a:rPr lang="en-US" b="1" dirty="0"/>
              <a:t>GOYANI MACHINES PVT. LTD</a:t>
            </a:r>
            <a:r>
              <a:rPr lang="en-US" b="1" dirty="0" smtClean="0"/>
              <a:t>.</a:t>
            </a:r>
          </a:p>
          <a:p>
            <a:pPr algn="just"/>
            <a:r>
              <a:rPr lang="en-US" dirty="0" smtClean="0"/>
              <a:t>This company produces Injection Molding machines and PET stretch blow </a:t>
            </a:r>
            <a:r>
              <a:rPr lang="en-US" dirty="0" err="1" smtClean="0"/>
              <a:t>moulding</a:t>
            </a:r>
            <a:r>
              <a:rPr lang="en-US" dirty="0" smtClean="0"/>
              <a:t> machine.</a:t>
            </a:r>
          </a:p>
          <a:p>
            <a:pPr algn="just"/>
            <a:r>
              <a:rPr lang="en-US" dirty="0" smtClean="0"/>
              <a:t>The machine is work on hydraulic power.</a:t>
            </a:r>
          </a:p>
          <a:p>
            <a:pPr algn="just"/>
            <a:r>
              <a:rPr lang="en-US" dirty="0"/>
              <a:t>T</a:t>
            </a:r>
            <a:r>
              <a:rPr lang="en-US" dirty="0" smtClean="0"/>
              <a:t>o reduce vibration bushing is done in guide hole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M</a:t>
            </a:r>
            <a:r>
              <a:rPr lang="en-US" dirty="0" smtClean="0"/>
              <a:t>oving plates which is used in machine have guide shafts (Tie bar) which guide the plate.</a:t>
            </a:r>
          </a:p>
          <a:p>
            <a:pPr algn="just"/>
            <a:r>
              <a:rPr lang="en-US" dirty="0" smtClean="0"/>
              <a:t>Bushes can be fitted on plate by two method one is shrink-fit and another is press-fit</a:t>
            </a:r>
          </a:p>
          <a:p>
            <a:endParaRPr lang="en-US" b="1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39196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736" y="1484245"/>
            <a:ext cx="8794414" cy="47830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/>
          <p:cNvSpPr txBox="1"/>
          <p:nvPr/>
        </p:nvSpPr>
        <p:spPr>
          <a:xfrm>
            <a:off x="4273021" y="543340"/>
            <a:ext cx="3617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Injection Moulding Machine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3715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7994" y="345043"/>
            <a:ext cx="8596668" cy="3880773"/>
          </a:xfrm>
        </p:spPr>
        <p:txBody>
          <a:bodyPr>
            <a:noAutofit/>
          </a:bodyPr>
          <a:lstStyle/>
          <a:p>
            <a:pPr algn="just"/>
            <a:r>
              <a:rPr lang="en-IN" sz="2400" dirty="0" smtClean="0"/>
              <a:t>Shrink-fit can be done by liquid nitrogen. It is easiest method.</a:t>
            </a:r>
          </a:p>
          <a:p>
            <a:pPr algn="just"/>
            <a:r>
              <a:rPr lang="en-IN" sz="2400" dirty="0" smtClean="0"/>
              <a:t>Bush is dipped in liquid nitrogen. This process shrinks bush and it can befitted inside guide hole. </a:t>
            </a:r>
          </a:p>
          <a:p>
            <a:pPr algn="just"/>
            <a:r>
              <a:rPr lang="en-IN" sz="2400" dirty="0" smtClean="0"/>
              <a:t>But liquid nitrogen is expensive for small scale industries. So they use press-fit method.</a:t>
            </a:r>
          </a:p>
          <a:p>
            <a:pPr marL="0" indent="0" algn="just">
              <a:buNone/>
            </a:pPr>
            <a:endParaRPr lang="en-IN" sz="2400" dirty="0" smtClean="0"/>
          </a:p>
          <a:p>
            <a:pPr marL="0" indent="0">
              <a:buNone/>
            </a:pPr>
            <a:endParaRPr lang="en-IN" sz="2400" dirty="0" smtClean="0"/>
          </a:p>
        </p:txBody>
      </p:sp>
      <p:pic>
        <p:nvPicPr>
          <p:cNvPr id="4" name="Picture 3" descr="maxresdefault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3090573" y="3190389"/>
            <a:ext cx="5731510" cy="322389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TextBox 1"/>
          <p:cNvSpPr txBox="1"/>
          <p:nvPr/>
        </p:nvSpPr>
        <p:spPr>
          <a:xfrm>
            <a:off x="4460982" y="2531164"/>
            <a:ext cx="2990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Shrink fit with </a:t>
            </a:r>
            <a:r>
              <a:rPr lang="en-IN" dirty="0"/>
              <a:t>L</a:t>
            </a:r>
            <a:r>
              <a:rPr lang="en-IN" dirty="0" smtClean="0"/>
              <a:t>iquid </a:t>
            </a:r>
            <a:r>
              <a:rPr lang="en-IN" dirty="0"/>
              <a:t>N</a:t>
            </a:r>
            <a:r>
              <a:rPr lang="en-IN" dirty="0" smtClean="0"/>
              <a:t>itrogen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9421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5678" y="606425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Press-fit can be done by applying force on bush.</a:t>
            </a:r>
          </a:p>
          <a:p>
            <a:pPr algn="just"/>
            <a:r>
              <a:rPr lang="en-IN" dirty="0" smtClean="0"/>
              <a:t>Press-fit is can be done with hammer or by pressing it with any machine. </a:t>
            </a:r>
          </a:p>
          <a:p>
            <a:pPr algn="just"/>
            <a:r>
              <a:rPr lang="en-IN" dirty="0"/>
              <a:t> </a:t>
            </a:r>
            <a:r>
              <a:rPr lang="en-IN" dirty="0" smtClean="0"/>
              <a:t>In industry they fit bush by manually impacting hammer on bush.</a:t>
            </a:r>
          </a:p>
          <a:p>
            <a:pPr algn="just"/>
            <a:r>
              <a:rPr lang="en-GB" dirty="0" smtClean="0"/>
              <a:t> This </a:t>
            </a:r>
            <a:r>
              <a:rPr lang="en-GB" dirty="0"/>
              <a:t>process can take 15 to 20 minute to fit single bush.</a:t>
            </a:r>
          </a:p>
          <a:p>
            <a:pPr algn="just"/>
            <a:r>
              <a:rPr lang="en-GB" dirty="0"/>
              <a:t> Each machine has 20 to 24 bushes to be fitted. </a:t>
            </a:r>
          </a:p>
          <a:p>
            <a:pPr algn="just"/>
            <a:r>
              <a:rPr lang="en-GB" dirty="0"/>
              <a:t>So this process becomes too slow. This process also required too much human effort.</a:t>
            </a:r>
            <a:endParaRPr lang="en-IN" dirty="0"/>
          </a:p>
          <a:p>
            <a:pPr algn="just"/>
            <a:r>
              <a:rPr lang="en-GB" dirty="0" smtClean="0"/>
              <a:t>In </a:t>
            </a:r>
            <a:r>
              <a:rPr lang="en-GB" dirty="0"/>
              <a:t>figure </a:t>
            </a:r>
            <a:r>
              <a:rPr lang="en-GB" dirty="0" smtClean="0"/>
              <a:t>there </a:t>
            </a:r>
            <a:r>
              <a:rPr lang="en-GB" dirty="0"/>
              <a:t>is shown bush fitting with press fit method. Bush is being fitted in bush hole by manually hammering on it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485478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9" y="749949"/>
            <a:ext cx="8170941" cy="58757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/>
          <p:cNvCxnSpPr/>
          <p:nvPr/>
        </p:nvCxnSpPr>
        <p:spPr>
          <a:xfrm flipV="1">
            <a:off x="2994991" y="1895061"/>
            <a:ext cx="357809" cy="795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53451" y="2690191"/>
            <a:ext cx="1883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2">
                    <a:lumMod val="90000"/>
                  </a:schemeClr>
                </a:solidFill>
              </a:rPr>
              <a:t>Bush is fitted here</a:t>
            </a:r>
            <a:endParaRPr lang="en-IN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2716696" y="1417983"/>
            <a:ext cx="2796208" cy="145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5480091" y="1564189"/>
            <a:ext cx="1212257" cy="1310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28539" y="2992829"/>
            <a:ext cx="1503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Moving Plates</a:t>
            </a:r>
            <a:endParaRPr lang="en-IN" dirty="0"/>
          </a:p>
        </p:txBody>
      </p:sp>
      <p:cxnSp>
        <p:nvCxnSpPr>
          <p:cNvPr id="26" name="Elbow Connector 25"/>
          <p:cNvCxnSpPr/>
          <p:nvPr/>
        </p:nvCxnSpPr>
        <p:spPr>
          <a:xfrm rot="10800000">
            <a:off x="6086219" y="4556817"/>
            <a:ext cx="2133600" cy="9409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89162" y="5313056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>
                    <a:lumMod val="85000"/>
                  </a:schemeClr>
                </a:solidFill>
              </a:rPr>
              <a:t>Tie bar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1004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062" y="1673087"/>
            <a:ext cx="4893365" cy="48933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/>
          <p:cNvSpPr txBox="1"/>
          <p:nvPr/>
        </p:nvSpPr>
        <p:spPr>
          <a:xfrm>
            <a:off x="5822589" y="728870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Bushes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7244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Objectives and Abstract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dirty="0" smtClean="0"/>
              <a:t>    According to above problem we are working on project to make a </a:t>
            </a:r>
            <a:r>
              <a:rPr lang="en-IN" dirty="0"/>
              <a:t>press which can minimize human effort and maximize </a:t>
            </a:r>
            <a:r>
              <a:rPr lang="en-IN" dirty="0" smtClean="0"/>
              <a:t>productivity. Which may take only 2 to 3 minute to fit the bush.</a:t>
            </a:r>
          </a:p>
          <a:p>
            <a:pPr algn="just"/>
            <a:endParaRPr lang="en-IN" dirty="0" smtClean="0"/>
          </a:p>
          <a:p>
            <a:pPr marL="0" indent="0" algn="just">
              <a:buNone/>
            </a:pPr>
            <a:r>
              <a:rPr lang="en-IN" dirty="0"/>
              <a:t> </a:t>
            </a:r>
            <a:r>
              <a:rPr lang="en-IN" dirty="0" smtClean="0"/>
              <a:t> Expected outcome of project:</a:t>
            </a:r>
          </a:p>
          <a:p>
            <a:pPr lvl="0" algn="just"/>
            <a:r>
              <a:rPr lang="en-US" dirty="0"/>
              <a:t>Portable press</a:t>
            </a:r>
            <a:endParaRPr lang="en-IN" dirty="0"/>
          </a:p>
          <a:p>
            <a:pPr lvl="0" algn="just"/>
            <a:r>
              <a:rPr lang="en-US" dirty="0"/>
              <a:t>Reduction in time required</a:t>
            </a:r>
            <a:endParaRPr lang="en-IN" dirty="0"/>
          </a:p>
          <a:p>
            <a:pPr lvl="0" algn="just"/>
            <a:r>
              <a:rPr lang="en-US" dirty="0"/>
              <a:t>Reduction in human effort required</a:t>
            </a:r>
            <a:endParaRPr lang="en-IN" dirty="0"/>
          </a:p>
          <a:p>
            <a:pPr lvl="0" algn="just"/>
            <a:r>
              <a:rPr lang="en-US" dirty="0"/>
              <a:t>Easily usable press</a:t>
            </a:r>
            <a:endParaRPr lang="en-IN" dirty="0"/>
          </a:p>
          <a:p>
            <a:pPr lvl="0" algn="just"/>
            <a:r>
              <a:rPr lang="en-US" dirty="0"/>
              <a:t>Bush fitting without defect on bush</a:t>
            </a: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77860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8774" y="1056999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IN" sz="3600" b="1" dirty="0"/>
              <a:t>Our objectives for the project are:  </a:t>
            </a:r>
            <a:endParaRPr lang="en-IN" sz="3600" b="1" dirty="0" smtClean="0"/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Design of “C” press</a:t>
            </a:r>
            <a:r>
              <a:rPr lang="en-IN" dirty="0" smtClean="0"/>
              <a:t>.</a:t>
            </a:r>
            <a:endParaRPr lang="en-IN" dirty="0"/>
          </a:p>
          <a:p>
            <a:pPr lvl="0"/>
            <a:r>
              <a:rPr lang="en-IN" dirty="0" smtClean="0"/>
              <a:t>Design </a:t>
            </a:r>
            <a:r>
              <a:rPr lang="en-IN" dirty="0"/>
              <a:t>of hydraulic</a:t>
            </a:r>
            <a:r>
              <a:rPr lang="en-IN" dirty="0" smtClean="0"/>
              <a:t>.</a:t>
            </a:r>
            <a:endParaRPr lang="en-IN" dirty="0"/>
          </a:p>
          <a:p>
            <a:pPr lvl="0"/>
            <a:r>
              <a:rPr lang="en-IN" dirty="0"/>
              <a:t>Fabrication “C” press.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69160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Patent Research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IN" sz="2400" dirty="0"/>
          </a:p>
          <a:p>
            <a:pPr algn="just"/>
            <a:endParaRPr lang="en-IN" sz="2400" dirty="0"/>
          </a:p>
          <a:p>
            <a:r>
              <a:rPr lang="en-US" sz="2400" dirty="0" smtClean="0"/>
              <a:t>For press-fit of bush force required is high.</a:t>
            </a:r>
          </a:p>
          <a:p>
            <a:r>
              <a:rPr lang="en-US" sz="2400" dirty="0" smtClean="0"/>
              <a:t>To get higher force Hydraulic system is suitable.</a:t>
            </a:r>
          </a:p>
          <a:p>
            <a:r>
              <a:rPr lang="en-US" sz="2400" dirty="0" smtClean="0"/>
              <a:t>To fit bush on corner of the plate “C” framed press is suitable. </a:t>
            </a:r>
          </a:p>
          <a:p>
            <a:pPr algn="just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12868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List of Component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Cylinder: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cylinder.JPG"/>
          <p:cNvPicPr/>
          <p:nvPr/>
        </p:nvPicPr>
        <p:blipFill>
          <a:blip r:embed="rId2"/>
          <a:srcRect l="39341" r="44507" b="44517"/>
          <a:stretch>
            <a:fillRect/>
          </a:stretch>
        </p:blipFill>
        <p:spPr>
          <a:xfrm>
            <a:off x="1828800" y="2438401"/>
            <a:ext cx="2235200" cy="38232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76800" y="35052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Material :  EN8 (An unalloyed medium carbon steel) </a:t>
            </a:r>
          </a:p>
          <a:p>
            <a:r>
              <a:rPr lang="en-US" dirty="0" smtClean="0"/>
              <a:t>Known as : 080M40 </a:t>
            </a:r>
          </a:p>
          <a:p>
            <a:r>
              <a:rPr lang="en-US" dirty="0" smtClean="0"/>
              <a:t>Yield Strength : 246.168 </a:t>
            </a:r>
            <a:r>
              <a:rPr lang="en-US" dirty="0" err="1" smtClean="0"/>
              <a:t>MPa</a:t>
            </a:r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10972800" cy="5668963"/>
          </a:xfrm>
        </p:spPr>
        <p:txBody>
          <a:bodyPr/>
          <a:lstStyle/>
          <a:p>
            <a:r>
              <a:rPr lang="en-US" dirty="0" smtClean="0"/>
              <a:t>“C” Frame </a:t>
            </a:r>
          </a:p>
          <a:p>
            <a:endParaRPr lang="en-US" dirty="0"/>
          </a:p>
        </p:txBody>
      </p:sp>
      <p:pic>
        <p:nvPicPr>
          <p:cNvPr id="4" name="Picture 3" descr="prs hyd.JPG"/>
          <p:cNvPicPr/>
          <p:nvPr/>
        </p:nvPicPr>
        <p:blipFill>
          <a:blip r:embed="rId2"/>
          <a:srcRect l="17450" r="19566"/>
          <a:stretch>
            <a:fillRect/>
          </a:stretch>
        </p:blipFill>
        <p:spPr>
          <a:xfrm>
            <a:off x="812800" y="1752601"/>
            <a:ext cx="6807200" cy="40546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26400" y="3048000"/>
            <a:ext cx="416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Material :  Mild Steel </a:t>
            </a:r>
          </a:p>
          <a:p>
            <a:r>
              <a:rPr lang="en-US" dirty="0" smtClean="0"/>
              <a:t>Yield Strength : 246.168 </a:t>
            </a:r>
            <a:r>
              <a:rPr lang="en-US" dirty="0" err="1" smtClean="0"/>
              <a:t>MPa</a:t>
            </a:r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09601"/>
            <a:ext cx="10972800" cy="5516563"/>
          </a:xfrm>
        </p:spPr>
        <p:txBody>
          <a:bodyPr/>
          <a:lstStyle/>
          <a:p>
            <a:r>
              <a:rPr lang="en-US" dirty="0" smtClean="0"/>
              <a:t>Piston with pressure plate:</a:t>
            </a:r>
          </a:p>
          <a:p>
            <a:endParaRPr lang="en-US" dirty="0"/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 descr="pressure plate piston.JPG"/>
          <p:cNvPicPr/>
          <p:nvPr/>
        </p:nvPicPr>
        <p:blipFill>
          <a:blip r:embed="rId2"/>
          <a:srcRect l="41084" t="23563" r="42855"/>
          <a:stretch>
            <a:fillRect/>
          </a:stretch>
        </p:blipFill>
        <p:spPr>
          <a:xfrm>
            <a:off x="1930400" y="1371600"/>
            <a:ext cx="2641600" cy="5006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0401" y="2895600"/>
            <a:ext cx="30196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Material :  EN8 (Carbon Steel) </a:t>
            </a:r>
          </a:p>
          <a:p>
            <a:r>
              <a:rPr lang="en-US" dirty="0" smtClean="0"/>
              <a:t>Yield Strength : 246.168 </a:t>
            </a:r>
            <a:r>
              <a:rPr lang="en-US" dirty="0" err="1" smtClean="0"/>
              <a:t>MPa</a:t>
            </a:r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33401"/>
            <a:ext cx="10972800" cy="5592763"/>
          </a:xfrm>
        </p:spPr>
        <p:txBody>
          <a:bodyPr/>
          <a:lstStyle/>
          <a:p>
            <a:r>
              <a:rPr lang="en-US" dirty="0" smtClean="0"/>
              <a:t>Hydraulic Cylinder Cover: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cover rod end.JPG"/>
          <p:cNvPicPr/>
          <p:nvPr/>
        </p:nvPicPr>
        <p:blipFill>
          <a:blip r:embed="rId2"/>
          <a:srcRect l="26922" t="12957" r="42001"/>
          <a:stretch>
            <a:fillRect/>
          </a:stretch>
        </p:blipFill>
        <p:spPr>
          <a:xfrm>
            <a:off x="1117600" y="1828800"/>
            <a:ext cx="4064000" cy="419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6604000" y="3429000"/>
            <a:ext cx="406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Material :  EN8 (Carbon Steel) </a:t>
            </a:r>
          </a:p>
          <a:p>
            <a:r>
              <a:rPr lang="en-US" dirty="0" smtClean="0"/>
              <a:t>Yield Strength : 246.168 </a:t>
            </a:r>
            <a:r>
              <a:rPr lang="en-US" dirty="0" err="1" smtClean="0"/>
              <a:t>MPa</a:t>
            </a:r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:\project\final press assembly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990600"/>
            <a:ext cx="10972800" cy="48006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064000" y="381000"/>
            <a:ext cx="4368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Assembly of Hydraulic “C” press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nal press assembly exploded view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2336800" y="838200"/>
            <a:ext cx="7518400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4267200" y="304800"/>
            <a:ext cx="3330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Exploded View of Design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90255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Existing 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We have made Design of “C” frame and Hydraulic. Calculation is given in below.</a:t>
            </a:r>
          </a:p>
          <a:p>
            <a:pPr algn="just"/>
            <a:r>
              <a:rPr lang="en-US" dirty="0" smtClean="0"/>
              <a:t>According to our requirement we have assembly of Hydraulic with the help of worker.</a:t>
            </a:r>
          </a:p>
          <a:p>
            <a:pPr algn="just"/>
            <a:r>
              <a:rPr lang="en-US" dirty="0" smtClean="0"/>
              <a:t>According to our design “C” frame is bigger then standard “C” frame available in market, so, we have ordered it From </a:t>
            </a:r>
            <a:r>
              <a:rPr lang="en-US" dirty="0" err="1" smtClean="0"/>
              <a:t>Amar</a:t>
            </a:r>
            <a:r>
              <a:rPr lang="en-US" dirty="0" smtClean="0"/>
              <a:t> Industries.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Assembled Hydraulic Cylinder</a:t>
            </a:r>
            <a:endParaRPr lang="en-US" b="1" dirty="0"/>
          </a:p>
        </p:txBody>
      </p:sp>
      <p:pic>
        <p:nvPicPr>
          <p:cNvPr id="2050" name="Picture 2" descr="C:\Users\mukund\Desktop\20160318_16442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837" y="1905001"/>
            <a:ext cx="4525963" cy="4525963"/>
          </a:xfrm>
          <a:prstGeom prst="rect">
            <a:avLst/>
          </a:prstGeom>
          <a:noFill/>
        </p:spPr>
      </p:pic>
      <p:pic>
        <p:nvPicPr>
          <p:cNvPr id="2051" name="Picture 3" descr="C:\Users\mukund\Desktop\20160318_16444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12267" y="2209800"/>
            <a:ext cx="6773333" cy="381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 dirty="0" smtClean="0"/>
              <a:t>Calculation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801" y="1371601"/>
            <a:ext cx="9634329" cy="4278823"/>
          </a:xfrm>
        </p:spPr>
        <p:txBody>
          <a:bodyPr/>
          <a:lstStyle/>
          <a:p>
            <a:pPr algn="just"/>
            <a:r>
              <a:rPr lang="en-IN" dirty="0" smtClean="0"/>
              <a:t>Formula </a:t>
            </a:r>
            <a:r>
              <a:rPr lang="en-IN" dirty="0"/>
              <a:t>for it is given </a:t>
            </a:r>
            <a:r>
              <a:rPr lang="en-IN" dirty="0" smtClean="0"/>
              <a:t>below</a:t>
            </a: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1" y="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3177118" y="2057400"/>
          <a:ext cx="5852583" cy="1295400"/>
        </p:xfrm>
        <a:graphic>
          <a:graphicData uri="http://schemas.openxmlformats.org/presentationml/2006/ole">
            <p:oleObj spid="_x0000_s31746" name="Equation" r:id="rId3" imgW="2603160" imgH="672840" progId="Equation.3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844800" y="3718679"/>
            <a:ext cx="904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:</a:t>
            </a:r>
          </a:p>
          <a:p>
            <a:r>
              <a:rPr lang="en-US" dirty="0" smtClean="0"/>
              <a:t>P=means </a:t>
            </a:r>
            <a:r>
              <a:rPr lang="en-US" dirty="0"/>
              <a:t>pressure of contacts expressed in N/mm^2</a:t>
            </a:r>
          </a:p>
          <a:p>
            <a:r>
              <a:rPr lang="en-US" dirty="0" smtClean="0"/>
              <a:t>𝛿=means </a:t>
            </a:r>
            <a:r>
              <a:rPr lang="en-US" dirty="0"/>
              <a:t>interference between the hub and </a:t>
            </a:r>
            <a:r>
              <a:rPr lang="en-US" dirty="0" smtClean="0"/>
              <a:t>bush expressed </a:t>
            </a:r>
            <a:r>
              <a:rPr lang="en-US" dirty="0"/>
              <a:t>in mm</a:t>
            </a:r>
          </a:p>
          <a:p>
            <a:r>
              <a:rPr lang="en-US" dirty="0"/>
              <a:t>d</a:t>
            </a:r>
            <a:r>
              <a:rPr lang="en-US" dirty="0" smtClean="0"/>
              <a:t>=Nominal </a:t>
            </a:r>
            <a:r>
              <a:rPr lang="en-US" dirty="0"/>
              <a:t>rim diameter expressed in mm</a:t>
            </a:r>
          </a:p>
          <a:p>
            <a:r>
              <a:rPr lang="en-US" dirty="0" err="1" smtClean="0"/>
              <a:t>Eo</a:t>
            </a:r>
            <a:r>
              <a:rPr lang="en-US" dirty="0" smtClean="0"/>
              <a:t>=Hub </a:t>
            </a:r>
            <a:r>
              <a:rPr lang="en-US" dirty="0"/>
              <a:t>Young's modulus expressed in N/mm^2</a:t>
            </a:r>
          </a:p>
          <a:p>
            <a:r>
              <a:rPr lang="en-US" dirty="0" smtClean="0"/>
              <a:t>Do=Hub </a:t>
            </a:r>
            <a:r>
              <a:rPr lang="en-US" dirty="0"/>
              <a:t>outer diameter expressed in mm</a:t>
            </a:r>
          </a:p>
          <a:p>
            <a:r>
              <a:rPr lang="en-US" dirty="0" smtClean="0"/>
              <a:t>Vo=Hub </a:t>
            </a:r>
            <a:r>
              <a:rPr lang="en-US" dirty="0"/>
              <a:t>Poisson's </a:t>
            </a:r>
            <a:r>
              <a:rPr lang="en-US" dirty="0" smtClean="0"/>
              <a:t>Ratio</a:t>
            </a:r>
            <a:endParaRPr lang="en-US" dirty="0"/>
          </a:p>
          <a:p>
            <a:r>
              <a:rPr lang="en-US" dirty="0" err="1" smtClean="0"/>
              <a:t>Ei</a:t>
            </a:r>
            <a:r>
              <a:rPr lang="en-US" dirty="0" smtClean="0"/>
              <a:t>=bush’ </a:t>
            </a:r>
            <a:r>
              <a:rPr lang="en-US" dirty="0"/>
              <a:t>Young's modulus expressed in N/mm^2</a:t>
            </a:r>
          </a:p>
          <a:p>
            <a:r>
              <a:rPr lang="en-US" dirty="0" smtClean="0"/>
              <a:t>Di=bush’ internal </a:t>
            </a:r>
            <a:r>
              <a:rPr lang="en-US" dirty="0"/>
              <a:t>diameter expressed in mm</a:t>
            </a:r>
          </a:p>
          <a:p>
            <a:r>
              <a:rPr lang="en-US" dirty="0" smtClean="0"/>
              <a:t>Vi=bush’ Poisson's Ratio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6822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0965" y="413266"/>
            <a:ext cx="10515600" cy="4351338"/>
          </a:xfrm>
        </p:spPr>
        <p:txBody>
          <a:bodyPr/>
          <a:lstStyle/>
          <a:p>
            <a:pPr lvl="0"/>
            <a:r>
              <a:rPr lang="en-GB" altLang="ko-KR" sz="2400" dirty="0">
                <a:solidFill>
                  <a:srgbClr val="333333"/>
                </a:solidFill>
                <a:ea typeface="Batang"/>
                <a:cs typeface="Times New Roman" panose="02020603050405020304" pitchFamily="18" charset="0"/>
              </a:rPr>
              <a:t>For calculating minimum force to engage or disengage these parts we can use the following formula</a:t>
            </a:r>
            <a:endParaRPr lang="en-GB" altLang="ko-KR" sz="1600" dirty="0"/>
          </a:p>
          <a:p>
            <a:endParaRPr lang="en-IN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243760963"/>
              </p:ext>
            </p:extLst>
          </p:nvPr>
        </p:nvGraphicFramePr>
        <p:xfrm>
          <a:off x="3962401" y="1219201"/>
          <a:ext cx="3228975" cy="809625"/>
        </p:xfrm>
        <a:graphic>
          <a:graphicData uri="http://schemas.openxmlformats.org/presentationml/2006/ole">
            <p:oleObj spid="_x0000_s32770" name="Equation" r:id="rId3" imgW="927100" imgH="228600" progId="Equation.3">
              <p:embed/>
            </p:oleObj>
          </a:graphicData>
        </a:graphic>
      </p:graphicFrame>
      <p:pic>
        <p:nvPicPr>
          <p:cNvPr id="6" name="Picture 5" descr="diagram.jp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1" y="2286000"/>
            <a:ext cx="6137911" cy="33515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6679" y="5936976"/>
            <a:ext cx="60980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press fit calculation and </a:t>
            </a:r>
            <a:r>
              <a:rPr lang="en-GB" sz="2400" dirty="0" smtClean="0"/>
              <a:t>result is given below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7518400" y="2286000"/>
            <a:ext cx="3759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Where:</a:t>
            </a:r>
          </a:p>
          <a:p>
            <a:pPr algn="just"/>
            <a:r>
              <a:rPr lang="en-US" dirty="0" smtClean="0"/>
              <a:t>F= </a:t>
            </a:r>
            <a:r>
              <a:rPr lang="en-US" dirty="0"/>
              <a:t>means the press fit Force expressed in N</a:t>
            </a:r>
          </a:p>
          <a:p>
            <a:pPr algn="just"/>
            <a:r>
              <a:rPr lang="en-US" dirty="0" smtClean="0"/>
              <a:t>P= </a:t>
            </a:r>
            <a:r>
              <a:rPr lang="en-US" dirty="0"/>
              <a:t>means the pressure of contact expressed in</a:t>
            </a:r>
          </a:p>
          <a:p>
            <a:pPr algn="just"/>
            <a:r>
              <a:rPr lang="en-US" dirty="0"/>
              <a:t>N/mm^2</a:t>
            </a:r>
          </a:p>
          <a:p>
            <a:pPr algn="just"/>
            <a:r>
              <a:rPr lang="el-GR" dirty="0"/>
              <a:t>μ </a:t>
            </a:r>
            <a:r>
              <a:rPr lang="en-US" dirty="0" smtClean="0"/>
              <a:t>: </a:t>
            </a:r>
            <a:r>
              <a:rPr lang="en-US" dirty="0"/>
              <a:t>means the friction between hub and shaft</a:t>
            </a:r>
          </a:p>
          <a:p>
            <a:pPr algn="just"/>
            <a:r>
              <a:rPr lang="en-US" dirty="0" smtClean="0"/>
              <a:t>A: Area of outer circular surface of Bush</a:t>
            </a:r>
            <a:endParaRPr lang="en-US" dirty="0"/>
          </a:p>
          <a:p>
            <a:pPr algn="just"/>
            <a:r>
              <a:rPr lang="en-US" dirty="0"/>
              <a:t>expressed in </a:t>
            </a:r>
            <a:r>
              <a:rPr lang="en-US" dirty="0" smtClean="0"/>
              <a:t>mm^2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1518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681861090"/>
              </p:ext>
            </p:extLst>
          </p:nvPr>
        </p:nvGraphicFramePr>
        <p:xfrm>
          <a:off x="877957" y="238608"/>
          <a:ext cx="10515600" cy="630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38460"/>
                <a:gridCol w="4277140"/>
              </a:tblGrid>
              <a:tr h="370840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Bush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Young’s modulus (GPa)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117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Poisson’s ratio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0.34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Internal diameter (mm)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Outer diameter (mm)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Tolerance (mm)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Bush hole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Young’s modulus (GPa)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110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Poisson’s ratio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0.22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Internal diameter (mm)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 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Max pressure Generated (MPa)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20.8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 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Width of bush (mm)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 </a:t>
                      </a:r>
                      <a:r>
                        <a:rPr lang="en-GB" sz="1200" dirty="0" smtClean="0">
                          <a:effectLst/>
                        </a:rPr>
                        <a:t>60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Friction between bush and bush hole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0.30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 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Froce required (N)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1,23,234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Batang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98539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</p:spPr>
        <p:txBody>
          <a:bodyPr>
            <a:normAutofit/>
          </a:bodyPr>
          <a:lstStyle/>
          <a:p>
            <a:pPr algn="ctr"/>
            <a:r>
              <a:rPr lang="en-IN" sz="2400" dirty="0" smtClean="0"/>
              <a:t>Stress strain analysis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0420"/>
            <a:ext cx="10515600" cy="5156545"/>
          </a:xfrm>
        </p:spPr>
        <p:txBody>
          <a:bodyPr/>
          <a:lstStyle/>
          <a:p>
            <a:r>
              <a:rPr lang="en-IN" sz="2000" dirty="0" smtClean="0"/>
              <a:t>To assure design whether it is safe or not under certain force.</a:t>
            </a:r>
          </a:p>
          <a:p>
            <a:r>
              <a:rPr lang="en-IN" sz="2000" dirty="0" smtClean="0"/>
              <a:t>It is calculated with two method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000" dirty="0" smtClean="0"/>
              <a:t>Analytical method 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" y="457202"/>
          <a:ext cx="123825" cy="219075"/>
        </p:xfrm>
        <a:graphic>
          <a:graphicData uri="http://schemas.openxmlformats.org/presentationml/2006/ole">
            <p:oleObj spid="_x0000_s33794" name="Equation" r:id="rId3" imgW="114151" imgH="215619" progId="Equation.3">
              <p:embed/>
            </p:oleObj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401804027"/>
              </p:ext>
            </p:extLst>
          </p:nvPr>
        </p:nvGraphicFramePr>
        <p:xfrm>
          <a:off x="1320801" y="4038601"/>
          <a:ext cx="1613207" cy="319785"/>
        </p:xfrm>
        <a:graphic>
          <a:graphicData uri="http://schemas.openxmlformats.org/presentationml/2006/ole">
            <p:oleObj spid="_x0000_s33795" name="Equation" r:id="rId4" imgW="939392" imgH="241195" progId="Equation.3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10906089"/>
              </p:ext>
            </p:extLst>
          </p:nvPr>
        </p:nvGraphicFramePr>
        <p:xfrm>
          <a:off x="3726837" y="4497136"/>
          <a:ext cx="1914536" cy="824945"/>
        </p:xfrm>
        <a:graphic>
          <a:graphicData uri="http://schemas.openxmlformats.org/presentationml/2006/ole">
            <p:oleObj spid="_x0000_s33796" name="Equation" r:id="rId5" imgW="888614" imgH="431613" progId="Equation.3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073623763"/>
              </p:ext>
            </p:extLst>
          </p:nvPr>
        </p:nvGraphicFramePr>
        <p:xfrm>
          <a:off x="3839856" y="5498043"/>
          <a:ext cx="2560945" cy="387927"/>
        </p:xfrm>
        <a:graphic>
          <a:graphicData uri="http://schemas.openxmlformats.org/presentationml/2006/ole">
            <p:oleObj spid="_x0000_s33797" name="Equation" r:id="rId6" imgW="1219200" imgH="228600" progId="Equation.3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392777478"/>
              </p:ext>
            </p:extLst>
          </p:nvPr>
        </p:nvGraphicFramePr>
        <p:xfrm>
          <a:off x="3726837" y="6164001"/>
          <a:ext cx="2673963" cy="451113"/>
        </p:xfrm>
        <a:graphic>
          <a:graphicData uri="http://schemas.openxmlformats.org/presentationml/2006/ole">
            <p:oleObj spid="_x0000_s33798" name="Equation" r:id="rId7" imgW="1066680" imgH="228600" progId="Equation.3">
              <p:embed/>
            </p:oleObj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219200" y="2362201"/>
            <a:ext cx="462561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/>
                <a:cs typeface="Times New Roman" panose="02020603050405020304" pitchFamily="18" charset="0"/>
              </a:rPr>
              <a:t>t = 8,</a:t>
            </a:r>
            <a:endParaRPr kumimoji="0" lang="en-GB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/>
                <a:cs typeface="Times New Roman" panose="02020603050405020304" pitchFamily="18" charset="0"/>
              </a:rPr>
              <a:t>M      =W (effort) * l</a:t>
            </a:r>
            <a:endParaRPr lang="en-GB" altLang="ko-KR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ko-KR" sz="1600" dirty="0">
                <a:latin typeface="Times New Roman" panose="02020603050405020304" pitchFamily="18" charset="0"/>
                <a:ea typeface="Batang"/>
                <a:cs typeface="Times New Roman" panose="02020603050405020304" pitchFamily="18" charset="0"/>
              </a:rPr>
              <a:t> </a:t>
            </a:r>
            <a:r>
              <a:rPr lang="en-GB" altLang="ko-KR" sz="1600" dirty="0" smtClean="0">
                <a:latin typeface="Times New Roman" panose="02020603050405020304" pitchFamily="18" charset="0"/>
                <a:ea typeface="Batang"/>
                <a:cs typeface="Times New Roman" panose="02020603050405020304" pitchFamily="18" charset="0"/>
              </a:rPr>
              <a:t>         </a:t>
            </a:r>
            <a:r>
              <a:rPr kumimoji="0" lang="en-GB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/>
                <a:cs typeface="Times New Roman" panose="02020603050405020304" pitchFamily="18" charset="0"/>
              </a:rPr>
              <a:t>=125000*229</a:t>
            </a:r>
            <a:endParaRPr kumimoji="0" lang="en-GB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ko-KR" sz="1600" dirty="0">
                <a:latin typeface="Times New Roman" panose="02020603050405020304" pitchFamily="18" charset="0"/>
                <a:ea typeface="Batang"/>
                <a:cs typeface="Times New Roman" panose="02020603050405020304" pitchFamily="18" charset="0"/>
              </a:rPr>
              <a:t> </a:t>
            </a:r>
            <a:r>
              <a:rPr lang="en-GB" altLang="ko-KR" sz="1600" dirty="0" smtClean="0">
                <a:latin typeface="Times New Roman" panose="02020603050405020304" pitchFamily="18" charset="0"/>
                <a:ea typeface="Batang"/>
                <a:cs typeface="Times New Roman" panose="02020603050405020304" pitchFamily="18" charset="0"/>
              </a:rPr>
              <a:t>         </a:t>
            </a:r>
            <a:r>
              <a:rPr kumimoji="0" lang="en-GB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/>
                <a:cs typeface="Times New Roman" panose="02020603050405020304" pitchFamily="18" charset="0"/>
              </a:rPr>
              <a:t>=280,</a:t>
            </a:r>
            <a:endParaRPr kumimoji="0" lang="en-GB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/>
                <a:cs typeface="Times New Roman" panose="02020603050405020304" pitchFamily="18" charset="0"/>
              </a:rPr>
              <a:t>A =1568, </a:t>
            </a:r>
            <a:endParaRPr kumimoji="0" lang="en-GB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219201" y="3657601"/>
            <a:ext cx="665567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/>
                <a:cs typeface="Times New Roman" panose="02020603050405020304" pitchFamily="18" charset="0"/>
              </a:rPr>
              <a:t>x= 2t.</a:t>
            </a:r>
            <a:endParaRPr kumimoji="0" lang="en-GB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1371600"/>
            <a:ext cx="22313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ko-K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/>
                <a:cs typeface="Times New Roman" panose="02020603050405020304" pitchFamily="18" charset="0"/>
              </a:rPr>
              <a:t>,</a:t>
            </a:r>
            <a:endParaRPr kumimoji="0" lang="en-GB" altLang="ko-KR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" y="180975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" y="26574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" y="33432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1" y="381765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1528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619" y="523298"/>
            <a:ext cx="10515600" cy="4351338"/>
          </a:xfrm>
        </p:spPr>
        <p:txBody>
          <a:bodyPr/>
          <a:lstStyle/>
          <a:p>
            <a:pPr marL="514350" indent="-514350">
              <a:buAutoNum type="arabicPeriod" startAt="2"/>
            </a:pPr>
            <a:r>
              <a:rPr lang="en-IN" sz="2400" dirty="0" err="1" smtClean="0"/>
              <a:t>Solidworks</a:t>
            </a:r>
            <a:r>
              <a:rPr lang="en-IN" sz="2400" dirty="0" smtClean="0"/>
              <a:t> Simulation:</a:t>
            </a:r>
          </a:p>
          <a:p>
            <a:pPr algn="just"/>
            <a:r>
              <a:rPr lang="en-IN" sz="2400" dirty="0"/>
              <a:t> </a:t>
            </a:r>
            <a:r>
              <a:rPr lang="en-GB" sz="2400" dirty="0"/>
              <a:t>According to simulation maximum tensile stress in the C frame is about 255 </a:t>
            </a:r>
            <a:r>
              <a:rPr lang="en-GB" sz="2400" dirty="0" err="1"/>
              <a:t>MPa</a:t>
            </a:r>
            <a:r>
              <a:rPr lang="en-GB" sz="2400" dirty="0" smtClean="0"/>
              <a:t>.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final press assembly with simulation-Static 1-Image-1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2699359" y="1867922"/>
            <a:ext cx="6930245" cy="39981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983" y="6149011"/>
            <a:ext cx="5233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Therefore, the result of both methods is </a:t>
            </a:r>
            <a:r>
              <a:rPr lang="en-GB" dirty="0" smtClean="0"/>
              <a:t>almost same.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05275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GANTT CHART</a:t>
            </a:r>
            <a:endParaRPr lang="en-US" b="1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97917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97280"/>
                <a:gridCol w="1005840"/>
                <a:gridCol w="1140460"/>
                <a:gridCol w="1066800"/>
                <a:gridCol w="1181100"/>
                <a:gridCol w="1054100"/>
                <a:gridCol w="11430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Jan 1-15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Jan 16-31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Feb 1-15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Feb 16-29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 1-15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 16-31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Apr 1-15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Apr 16-31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Project Planning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241300"/>
            <a:ext cx="10998200" cy="6159500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GB" sz="4100" b="1" u="sng" dirty="0" smtClean="0"/>
              <a:t>CONCLUSION </a:t>
            </a:r>
            <a:endParaRPr lang="en-US" sz="4100" b="1" dirty="0" smtClean="0"/>
          </a:p>
          <a:p>
            <a:pPr>
              <a:buNone/>
            </a:pPr>
            <a:r>
              <a:rPr lang="en-GB" dirty="0" smtClean="0"/>
              <a:t> </a:t>
            </a:r>
            <a:endParaRPr lang="en-US" dirty="0" smtClean="0"/>
          </a:p>
          <a:p>
            <a:pPr lvl="0"/>
            <a:r>
              <a:rPr lang="en-GB" dirty="0" smtClean="0"/>
              <a:t>Human effort required for fitting the bushes are much less then manual hammering method.</a:t>
            </a:r>
            <a:endParaRPr lang="en-US" dirty="0" smtClean="0"/>
          </a:p>
          <a:p>
            <a:pPr lvl="0">
              <a:buNone/>
            </a:pPr>
            <a:r>
              <a:rPr lang="en-GB" dirty="0" smtClean="0"/>
              <a:t> </a:t>
            </a:r>
            <a:endParaRPr lang="en-US" dirty="0" smtClean="0"/>
          </a:p>
          <a:p>
            <a:pPr lvl="0"/>
            <a:r>
              <a:rPr lang="en-GB" dirty="0" smtClean="0"/>
              <a:t>Time required for the bush fitting is much less,</a:t>
            </a:r>
            <a:endParaRPr lang="en-US" dirty="0" smtClean="0"/>
          </a:p>
          <a:p>
            <a:r>
              <a:rPr lang="en-GB" dirty="0" smtClean="0"/>
              <a:t>i.e. from manual method for 25 mm and 50 mm diameter bush for bush fitting is 4 to 5 minutes and 7 to 8</a:t>
            </a:r>
          </a:p>
          <a:p>
            <a:pPr>
              <a:buNone/>
            </a:pPr>
            <a:endParaRPr lang="en-US" dirty="0" smtClean="0"/>
          </a:p>
          <a:p>
            <a:r>
              <a:rPr lang="en-GB" dirty="0" smtClean="0"/>
              <a:t>And from C press it is 10 to 15 seconds and 20 to 30 seconds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0"/>
            <a:r>
              <a:rPr lang="en-GB" dirty="0" smtClean="0"/>
              <a:t>By using Adjustable stud we can manage the length of rod for different size of plates and links.</a:t>
            </a:r>
            <a:endParaRPr lang="en-US" dirty="0" smtClean="0"/>
          </a:p>
          <a:p>
            <a:pPr lvl="0">
              <a:buNone/>
            </a:pPr>
            <a:r>
              <a:rPr lang="en-GB" b="1" dirty="0" smtClean="0"/>
              <a:t> </a:t>
            </a:r>
            <a:endParaRPr lang="en-US" dirty="0" smtClean="0"/>
          </a:p>
          <a:p>
            <a:pPr lvl="0"/>
            <a:r>
              <a:rPr lang="en-GB" dirty="0" smtClean="0"/>
              <a:t>Setting of the length with adjustable stud is less time consuming. It can be set within 20 sec for different size.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90500"/>
            <a:ext cx="11315700" cy="62611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3600" b="1" dirty="0" smtClean="0"/>
              <a:t>REFERENCES</a:t>
            </a:r>
            <a:endParaRPr lang="en-US" sz="3600" b="1" dirty="0" smtClean="0"/>
          </a:p>
          <a:p>
            <a:pPr>
              <a:buNone/>
            </a:pPr>
            <a:r>
              <a:rPr lang="en-GB" dirty="0" smtClean="0"/>
              <a:t> </a:t>
            </a:r>
            <a:endParaRPr lang="en-US" dirty="0" smtClean="0"/>
          </a:p>
          <a:p>
            <a:pPr lvl="0"/>
            <a:r>
              <a:rPr lang="en-IN" sz="2200" dirty="0" smtClean="0"/>
              <a:t>Press Fit Pressure Calculation – Optimize Your Interference/Transition Fit Design</a:t>
            </a:r>
            <a:r>
              <a:rPr lang="en-IN" sz="2200" b="1" dirty="0" smtClean="0"/>
              <a:t> </a:t>
            </a:r>
            <a:r>
              <a:rPr lang="en-IN" sz="2200" dirty="0" smtClean="0"/>
              <a:t>387-399 Precision Machine Design By Alexander H. Slocum  By Society of Manufacturing Engineers</a:t>
            </a:r>
          </a:p>
          <a:p>
            <a:pPr lvl="0">
              <a:buNone/>
            </a:pPr>
            <a:endParaRPr lang="en-US" sz="2200" dirty="0" smtClean="0"/>
          </a:p>
          <a:p>
            <a:pPr lvl="0"/>
            <a:r>
              <a:rPr lang="en-IN" sz="2200" dirty="0" smtClean="0"/>
              <a:t>Hydraulic Design,</a:t>
            </a:r>
            <a:r>
              <a:rPr lang="en-US" sz="2200" dirty="0" smtClean="0"/>
              <a:t> </a:t>
            </a:r>
            <a:r>
              <a:rPr lang="en-IN" sz="2200" dirty="0" err="1" smtClean="0"/>
              <a:t>Anant</a:t>
            </a:r>
            <a:r>
              <a:rPr lang="en-IN" sz="2200" dirty="0" smtClean="0"/>
              <a:t> </a:t>
            </a:r>
            <a:r>
              <a:rPr lang="en-IN" sz="2200" dirty="0" err="1" smtClean="0"/>
              <a:t>Moradiya</a:t>
            </a:r>
            <a:r>
              <a:rPr lang="en-IN" sz="2200" dirty="0" smtClean="0"/>
              <a:t>, Director, </a:t>
            </a:r>
            <a:r>
              <a:rPr lang="en-IN" sz="2200" dirty="0" err="1" smtClean="0"/>
              <a:t>Goyani</a:t>
            </a:r>
            <a:r>
              <a:rPr lang="en-IN" sz="2200" dirty="0" smtClean="0"/>
              <a:t> Machine PVT. LTD. </a:t>
            </a:r>
          </a:p>
          <a:p>
            <a:pPr lvl="0">
              <a:buNone/>
            </a:pPr>
            <a:endParaRPr lang="en-US" sz="2200" dirty="0" smtClean="0"/>
          </a:p>
          <a:p>
            <a:pPr lvl="0"/>
            <a:r>
              <a:rPr lang="en-IN" sz="2200" dirty="0" smtClean="0"/>
              <a:t>Design of machine book</a:t>
            </a:r>
            <a:r>
              <a:rPr lang="en-US" sz="2200" dirty="0" smtClean="0"/>
              <a:t> </a:t>
            </a:r>
            <a:r>
              <a:rPr lang="en-IN" sz="2200" dirty="0" smtClean="0"/>
              <a:t>By V. B. </a:t>
            </a:r>
            <a:r>
              <a:rPr lang="en-IN" sz="2200" dirty="0" err="1" smtClean="0"/>
              <a:t>Bhandari</a:t>
            </a:r>
            <a:r>
              <a:rPr lang="en-IN" sz="2200" dirty="0" smtClean="0"/>
              <a:t>, Tata </a:t>
            </a:r>
            <a:r>
              <a:rPr lang="en-IN" sz="2200" dirty="0" err="1" smtClean="0"/>
              <a:t>McGrawHills</a:t>
            </a:r>
            <a:r>
              <a:rPr lang="en-IN" sz="2200" dirty="0" smtClean="0"/>
              <a:t> </a:t>
            </a:r>
          </a:p>
          <a:p>
            <a:pPr lvl="0">
              <a:buNone/>
            </a:pPr>
            <a:endParaRPr lang="en-US" sz="2200" dirty="0" smtClean="0"/>
          </a:p>
          <a:p>
            <a:pPr lvl="0"/>
            <a:r>
              <a:rPr lang="en-IN" sz="2200" dirty="0" smtClean="0"/>
              <a:t>Machine Design book</a:t>
            </a:r>
            <a:r>
              <a:rPr lang="en-US" sz="2200" dirty="0" smtClean="0"/>
              <a:t> </a:t>
            </a:r>
            <a:r>
              <a:rPr lang="en-IN" sz="2200" dirty="0" smtClean="0"/>
              <a:t>By R. S. </a:t>
            </a:r>
            <a:r>
              <a:rPr lang="en-IN" sz="2200" dirty="0" err="1" smtClean="0"/>
              <a:t>Khurmi</a:t>
            </a:r>
            <a:r>
              <a:rPr lang="en-IN" sz="2200" dirty="0" smtClean="0"/>
              <a:t> , J. K. Gupta , Eurasia Publishing house limited </a:t>
            </a:r>
          </a:p>
          <a:p>
            <a:pPr lvl="0">
              <a:buNone/>
            </a:pPr>
            <a:endParaRPr lang="en-US" sz="2200" dirty="0" smtClean="0"/>
          </a:p>
          <a:p>
            <a:pPr lvl="0"/>
            <a:r>
              <a:rPr lang="en-IN" sz="2200" dirty="0" smtClean="0"/>
              <a:t>Hydraulic Cylinder Design</a:t>
            </a:r>
            <a:r>
              <a:rPr lang="en-US" sz="2200" dirty="0" smtClean="0"/>
              <a:t> </a:t>
            </a:r>
            <a:r>
              <a:rPr lang="en-IN" sz="2200" dirty="0" smtClean="0"/>
              <a:t>By V. B. </a:t>
            </a:r>
            <a:r>
              <a:rPr lang="en-IN" sz="2200" dirty="0" err="1" smtClean="0"/>
              <a:t>Bhandari</a:t>
            </a:r>
            <a:r>
              <a:rPr lang="en-IN" sz="2200" dirty="0" smtClean="0"/>
              <a:t>, Tata </a:t>
            </a:r>
            <a:r>
              <a:rPr lang="en-IN" sz="2200" dirty="0" err="1" smtClean="0"/>
              <a:t>McGrawHills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</TotalTime>
  <Words>892</Words>
  <Application>Microsoft Office PowerPoint</Application>
  <PresentationFormat>Custom</PresentationFormat>
  <Paragraphs>189</Paragraphs>
  <Slides>27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Equation</vt:lpstr>
      <vt:lpstr>Slide 1</vt:lpstr>
      <vt:lpstr>Slide 2</vt:lpstr>
      <vt:lpstr>Description of Project Problem</vt:lpstr>
      <vt:lpstr>Slide 4</vt:lpstr>
      <vt:lpstr>Slide 5</vt:lpstr>
      <vt:lpstr>Slide 6</vt:lpstr>
      <vt:lpstr>Slide 7</vt:lpstr>
      <vt:lpstr>Slide 8</vt:lpstr>
      <vt:lpstr>Objectives and Abstract</vt:lpstr>
      <vt:lpstr>Slide 10</vt:lpstr>
      <vt:lpstr>Patent Research Analysis</vt:lpstr>
      <vt:lpstr>List of Component</vt:lpstr>
      <vt:lpstr>Slide 13</vt:lpstr>
      <vt:lpstr>Slide 14</vt:lpstr>
      <vt:lpstr>Slide 15</vt:lpstr>
      <vt:lpstr>Slide 16</vt:lpstr>
      <vt:lpstr>Slide 17</vt:lpstr>
      <vt:lpstr>Existing Work</vt:lpstr>
      <vt:lpstr>Assembled Hydraulic Cylinder</vt:lpstr>
      <vt:lpstr>Calculation</vt:lpstr>
      <vt:lpstr>Slide 21</vt:lpstr>
      <vt:lpstr>Slide 22</vt:lpstr>
      <vt:lpstr>Stress strain analysis</vt:lpstr>
      <vt:lpstr>Slide 24</vt:lpstr>
      <vt:lpstr>GANTT CHART</vt:lpstr>
      <vt:lpstr>Slide 26</vt:lpstr>
      <vt:lpstr>Slide 27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akash jasoliya</dc:creator>
  <cp:lastModifiedBy>Ashish Bhojani</cp:lastModifiedBy>
  <cp:revision>51</cp:revision>
  <dcterms:created xsi:type="dcterms:W3CDTF">2015-09-17T14:06:39Z</dcterms:created>
  <dcterms:modified xsi:type="dcterms:W3CDTF">2016-05-24T18:08:49Z</dcterms:modified>
</cp:coreProperties>
</file>